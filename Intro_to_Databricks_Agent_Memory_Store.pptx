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EC3481-4DD4-4DBC-BCA6-D478CBD781C4}" v="2" dt="2026-08-22T18:44:38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undo custSel addSld modSld">
      <pc:chgData name="kuljot bakshi" userId="e18f591f5991c12c" providerId="LiveId" clId="{848BE52E-FEF7-44CF-B8AB-7264220E5FAA}" dt="2026-08-22T18:46:20.395" v="174" actId="1076"/>
      <pc:docMkLst>
        <pc:docMk/>
      </pc:docMkLst>
      <pc:sldChg chg="addSp delSp modSp new mod">
        <pc:chgData name="kuljot bakshi" userId="e18f591f5991c12c" providerId="LiveId" clId="{848BE52E-FEF7-44CF-B8AB-7264220E5FAA}" dt="2026-08-22T18:43:38.505" v="71" actId="1076"/>
        <pc:sldMkLst>
          <pc:docMk/>
          <pc:sldMk cId="4137314165" sldId="263"/>
        </pc:sldMkLst>
        <pc:spChg chg="mod">
          <ac:chgData name="kuljot bakshi" userId="e18f591f5991c12c" providerId="LiveId" clId="{848BE52E-FEF7-44CF-B8AB-7264220E5FAA}" dt="2026-08-22T18:42:54.634" v="58" actId="1076"/>
          <ac:spMkLst>
            <pc:docMk/>
            <pc:sldMk cId="4137314165" sldId="263"/>
            <ac:spMk id="2" creationId="{4FF01256-3C5E-668B-1D04-09618407C142}"/>
          </ac:spMkLst>
        </pc:spChg>
        <pc:spChg chg="del">
          <ac:chgData name="kuljot bakshi" userId="e18f591f5991c12c" providerId="LiveId" clId="{848BE52E-FEF7-44CF-B8AB-7264220E5FAA}" dt="2026-08-22T18:43:08.028" v="59"/>
          <ac:spMkLst>
            <pc:docMk/>
            <pc:sldMk cId="4137314165" sldId="263"/>
            <ac:spMk id="3" creationId="{D9327032-ECF5-8B29-B778-5CFDE5C0D8BE}"/>
          </ac:spMkLst>
        </pc:spChg>
        <pc:spChg chg="add del">
          <ac:chgData name="kuljot bakshi" userId="e18f591f5991c12c" providerId="LiveId" clId="{848BE52E-FEF7-44CF-B8AB-7264220E5FAA}" dt="2026-08-22T18:43:25.544" v="62" actId="22"/>
          <ac:spMkLst>
            <pc:docMk/>
            <pc:sldMk cId="4137314165" sldId="263"/>
            <ac:spMk id="6" creationId="{49ADAD26-1CE0-8BB2-56EC-47B887CAC614}"/>
          </ac:spMkLst>
        </pc:spChg>
        <pc:spChg chg="add del">
          <ac:chgData name="kuljot bakshi" userId="e18f591f5991c12c" providerId="LiveId" clId="{848BE52E-FEF7-44CF-B8AB-7264220E5FAA}" dt="2026-08-22T18:43:28.334" v="64" actId="22"/>
          <ac:spMkLst>
            <pc:docMk/>
            <pc:sldMk cId="4137314165" sldId="263"/>
            <ac:spMk id="8" creationId="{88627B79-B117-29F8-E07E-C6F8AF9DD86C}"/>
          </ac:spMkLst>
        </pc:spChg>
        <pc:spChg chg="add mod">
          <ac:chgData name="kuljot bakshi" userId="e18f591f5991c12c" providerId="LiveId" clId="{848BE52E-FEF7-44CF-B8AB-7264220E5FAA}" dt="2026-08-22T18:43:38.505" v="71" actId="1076"/>
          <ac:spMkLst>
            <pc:docMk/>
            <pc:sldMk cId="4137314165" sldId="263"/>
            <ac:spMk id="10" creationId="{97581E4D-6B24-3CD9-BE27-C6B2277E37E7}"/>
          </ac:spMkLst>
        </pc:spChg>
        <pc:picChg chg="add mod">
          <ac:chgData name="kuljot bakshi" userId="e18f591f5991c12c" providerId="LiveId" clId="{848BE52E-FEF7-44CF-B8AB-7264220E5FAA}" dt="2026-08-22T18:43:15.025" v="60" actId="1076"/>
          <ac:picMkLst>
            <pc:docMk/>
            <pc:sldMk cId="4137314165" sldId="263"/>
            <ac:picMk id="4" creationId="{44A9962F-9DB7-893E-D2B7-E36FCD7C7DDB}"/>
          </ac:picMkLst>
        </pc:picChg>
      </pc:sldChg>
      <pc:sldChg chg="addSp delSp modSp new mod">
        <pc:chgData name="kuljot bakshi" userId="e18f591f5991c12c" providerId="LiveId" clId="{848BE52E-FEF7-44CF-B8AB-7264220E5FAA}" dt="2026-08-22T18:46:20.395" v="174" actId="1076"/>
        <pc:sldMkLst>
          <pc:docMk/>
          <pc:sldMk cId="59954874" sldId="264"/>
        </pc:sldMkLst>
        <pc:spChg chg="mod">
          <ac:chgData name="kuljot bakshi" userId="e18f591f5991c12c" providerId="LiveId" clId="{848BE52E-FEF7-44CF-B8AB-7264220E5FAA}" dt="2026-08-22T18:46:17.171" v="172" actId="1076"/>
          <ac:spMkLst>
            <pc:docMk/>
            <pc:sldMk cId="59954874" sldId="264"/>
            <ac:spMk id="2" creationId="{D250308E-4C08-2C6E-EC76-C344DD6FFAB3}"/>
          </ac:spMkLst>
        </pc:spChg>
        <pc:spChg chg="del">
          <ac:chgData name="kuljot bakshi" userId="e18f591f5991c12c" providerId="LiveId" clId="{848BE52E-FEF7-44CF-B8AB-7264220E5FAA}" dt="2026-08-22T18:44:38.085" v="73"/>
          <ac:spMkLst>
            <pc:docMk/>
            <pc:sldMk cId="59954874" sldId="264"/>
            <ac:spMk id="3" creationId="{33708D46-622E-2F09-D525-D3F0F93DFF12}"/>
          </ac:spMkLst>
        </pc:spChg>
        <pc:spChg chg="add del">
          <ac:chgData name="kuljot bakshi" userId="e18f591f5991c12c" providerId="LiveId" clId="{848BE52E-FEF7-44CF-B8AB-7264220E5FAA}" dt="2026-08-22T18:45:21.592" v="149" actId="22"/>
          <ac:spMkLst>
            <pc:docMk/>
            <pc:sldMk cId="59954874" sldId="264"/>
            <ac:spMk id="6" creationId="{EB36ABC9-C1AD-E8C6-E54C-44B5C5897C68}"/>
          </ac:spMkLst>
        </pc:spChg>
        <pc:spChg chg="add mod">
          <ac:chgData name="kuljot bakshi" userId="e18f591f5991c12c" providerId="LiveId" clId="{848BE52E-FEF7-44CF-B8AB-7264220E5FAA}" dt="2026-08-22T18:46:12.586" v="171" actId="1076"/>
          <ac:spMkLst>
            <pc:docMk/>
            <pc:sldMk cId="59954874" sldId="264"/>
            <ac:spMk id="8" creationId="{93B94167-43C7-AB33-B17B-0E1D1C94378F}"/>
          </ac:spMkLst>
        </pc:spChg>
        <pc:picChg chg="add mod">
          <ac:chgData name="kuljot bakshi" userId="e18f591f5991c12c" providerId="LiveId" clId="{848BE52E-FEF7-44CF-B8AB-7264220E5FAA}" dt="2026-08-22T18:46:20.395" v="174" actId="1076"/>
          <ac:picMkLst>
            <pc:docMk/>
            <pc:sldMk cId="59954874" sldId="264"/>
            <ac:picMk id="4" creationId="{DC4882DD-753E-F89B-D083-60D559A600C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C8313-8791-F72A-024C-00EBAEA10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E7CAF-7627-B0F7-59B5-0241E0FFD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D5D9C-CE5A-9A66-0E92-A47C82F6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C3226-870E-048D-3D43-66D0569B2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EE15B-60AC-4089-0914-D16426E5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68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5A1F-5A0D-26F2-B083-F24E8422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D289-20A4-67BB-3A22-DE478EA3D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468F9-D79D-331B-7457-53F531F66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3F47-4378-3EE1-A883-9EFC71E82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ED033-60D4-E522-70C6-2ACD629B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07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3F3D-04D3-6023-39E4-89E8B4A8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230E1-B5F0-33BC-BAA0-098E8B9BE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18FEC-9FEE-DF46-CBBB-4DBB1C1A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75A6F-AE24-A1C0-DF63-16DF0009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E95D1-C3B2-761B-11E6-A1E637C2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980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9A9D-18FC-9915-1037-557226B7E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464A8-6138-2A08-887D-26F7D992E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D8148-348F-D16C-7FC8-8667BBCA9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1FB01-CB70-BB68-D671-8E18536B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2712F-1A7E-4155-5B12-48D5830D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857D9-90A2-8EC7-DFE1-6EA529EC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07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F9AD-DDC9-43FB-CAB9-DF7F7138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35B24-0239-C2F0-EB69-2943F9922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64793-F56A-F7C0-98A9-412F13407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9A7F15-F039-B5A5-C7A0-C48D46452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AA02D-B4FC-7A92-6E08-B2D722812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D816D-7014-F355-6683-24544269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6817A-D05C-FE8D-64C2-7D11A41C5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ED51D-FB4F-DDF1-FDCC-B11F85FD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60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88373-8135-9673-1E07-7B0C18DF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F36D87-A1A3-F614-99EC-AFFF490C4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461B3-70F4-9CE6-5D4B-385BEE66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3FC11-C6FF-88C0-FDE3-DA7EA769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38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13E387-13FE-F08F-C7FF-3E4791DD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EFA5A-798A-B36C-63F2-240225CA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B333C-653C-54AB-2866-644C9FA5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05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CE448-6722-6473-45A8-911084AA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64F56-803B-FE34-A4AA-6D1D7408E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F4B8B-D090-AAC0-D8CA-FFAD61B9C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3E246-D4D4-E660-D4E8-A7F7FEF6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26B90-D1D0-621F-9918-3F681F32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B9D48-E760-5796-514D-22B745CD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76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585-D19B-2AC2-8063-A66A1496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156FCA-C101-D3A4-C965-8C10CCB0D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0D67A-F861-7A2B-F82E-630CF4AA6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C438E-1876-971D-F80B-A8BFD19D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FD49F-943A-CD42-2BDE-F6993B7E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B8729-BC55-D6BD-090F-478A8D2A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849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029E-2597-C655-B3B7-F3BA7CD2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72E6C-D49E-5CEA-C22B-5FE499C4A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E2AA2-2ADE-07D1-B93C-2140C0D0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DEBFA-444F-FA9C-393F-1019FB41F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029B-894D-6E40-F026-13090D67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42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1CD38-9694-B25C-0717-53B49382A5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D671B-9502-F26D-C98E-A023BFF60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2FDDA-E455-2DC6-E55D-D575FD44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D443E-0D7A-61D3-02F1-5F17E08DB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6B901-B463-BDA4-D1E3-57FBA7FE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87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E4D3F2-305B-1BEB-9077-D5CB6974D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1D20F-A120-23B3-FD3E-B18CEA53A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2BA8-CF13-ACAD-9162-0DFF7A7BE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F066B-E30F-4C4A-9D37-4A164135D712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1F283-06B0-35F6-A6FB-CB9D37850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02EE4-7681-842C-591B-F3D1688AD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03B90-8799-49E5-9424-3E4AF4E63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12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3DA15B-AF65-73B9-F6F0-A835FA5C0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286" y="5083366"/>
            <a:ext cx="9144000" cy="1655762"/>
          </a:xfrm>
        </p:spPr>
        <p:txBody>
          <a:bodyPr/>
          <a:lstStyle/>
          <a:p>
            <a:r>
              <a:rPr lang="en-US" b="1" i="1" dirty="0"/>
              <a:t>Databricks Managed and Self-Hosted Agent Memory</a:t>
            </a:r>
            <a:endParaRPr lang="en-IN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68DC8-2738-B3EE-1D26-A15BD038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19" y="393192"/>
            <a:ext cx="8720134" cy="49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8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FBC5-8E24-FF3E-2A1F-7D3DB02C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999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Problem Statement(s)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957614B-20ED-ACD4-3528-F21BDBE55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260" y="886968"/>
            <a:ext cx="7687479" cy="4324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EBFC9E-D1C4-12C0-E881-BC5066D64DA1}"/>
              </a:ext>
            </a:extLst>
          </p:cNvPr>
          <p:cNvSpPr txBox="1"/>
          <p:nvPr/>
        </p:nvSpPr>
        <p:spPr>
          <a:xfrm>
            <a:off x="838200" y="5384911"/>
            <a:ext cx="1068952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i="1" dirty="0"/>
              <a:t>A context window in a large language model </a:t>
            </a:r>
            <a:r>
              <a:rPr lang="en-IN" b="1" i="1" dirty="0"/>
              <a:t>is </a:t>
            </a:r>
            <a:r>
              <a:rPr lang="en-IN" sz="1600" b="1" i="1" dirty="0"/>
              <a:t>the maximum amount of text—measured in tokens—that the model can process and "remember" during a single interaction.</a:t>
            </a:r>
          </a:p>
          <a:p>
            <a:pPr algn="ctr"/>
            <a:endParaRPr lang="en-US" sz="1600" b="1" i="1" dirty="0"/>
          </a:p>
          <a:p>
            <a:pPr algn="ctr"/>
            <a:r>
              <a:rPr lang="en-US" sz="1600" b="1" i="1" dirty="0"/>
              <a:t>Everything in the request counts toward the context window: the system prompt, every message in messages (including tool results, images, and documents), and your tool definitions. </a:t>
            </a:r>
          </a:p>
        </p:txBody>
      </p:sp>
    </p:spTree>
    <p:extLst>
      <p:ext uri="{BB962C8B-B14F-4D97-AF65-F5344CB8AC3E}">
        <p14:creationId xmlns:p14="http://schemas.microsoft.com/office/powerpoint/2010/main" val="132011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B68F-BFD2-424B-C5E6-867A0C89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16" y="18255"/>
            <a:ext cx="11533632" cy="1325563"/>
          </a:xfrm>
        </p:spPr>
        <p:txBody>
          <a:bodyPr/>
          <a:lstStyle/>
          <a:p>
            <a:r>
              <a:rPr lang="en-US" dirty="0"/>
              <a:t>Agent Memory – Retrieval as-and-when Required</a:t>
            </a:r>
            <a:endParaRPr lang="en-IN" dirty="0"/>
          </a:p>
        </p:txBody>
      </p:sp>
      <p:pic>
        <p:nvPicPr>
          <p:cNvPr id="4" name="Content Placeholder 3" descr="Diagram of the agent memory loop">
            <a:extLst>
              <a:ext uri="{FF2B5EF4-FFF2-40B4-BE49-F238E27FC236}">
                <a16:creationId xmlns:a16="http://schemas.microsoft.com/office/drawing/2014/main" id="{799BB3B0-899A-BF01-9D8C-B86EB97B3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2436" y="1114123"/>
            <a:ext cx="6198724" cy="46297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E64970-32FD-9734-3673-4D6370AC2E62}"/>
              </a:ext>
            </a:extLst>
          </p:cNvPr>
          <p:cNvSpPr txBox="1"/>
          <p:nvPr/>
        </p:nvSpPr>
        <p:spPr>
          <a:xfrm>
            <a:off x="1080589" y="6020092"/>
            <a:ext cx="10202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/>
              <a:t>Memory lets agents remember information from earlier in a conversation or from previous conversations. With memory, agents provide context-aware responses and build personalized experiences over time.</a:t>
            </a:r>
            <a:endParaRPr lang="en-IN" sz="1600" b="1" i="1" dirty="0"/>
          </a:p>
        </p:txBody>
      </p:sp>
    </p:spTree>
    <p:extLst>
      <p:ext uri="{BB962C8B-B14F-4D97-AF65-F5344CB8AC3E}">
        <p14:creationId xmlns:p14="http://schemas.microsoft.com/office/powerpoint/2010/main" val="185523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0B820-A8E5-D4D8-FC2E-8AA1B2F6D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Managed Agent Memory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4E14F-01CF-C567-0AFE-137649080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944" y="1871277"/>
            <a:ext cx="7093010" cy="39910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B410BA-318A-E77B-3BAD-143FCBEB2A31}"/>
              </a:ext>
            </a:extLst>
          </p:cNvPr>
          <p:cNvSpPr txBox="1"/>
          <p:nvPr/>
        </p:nvSpPr>
        <p:spPr>
          <a:xfrm>
            <a:off x="51435" y="1284382"/>
            <a:ext cx="120891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Managed agent memory </a:t>
            </a:r>
            <a:r>
              <a:rPr lang="en-US" sz="1600" dirty="0"/>
              <a:t>gives your agents long-term memory across conversations. Azure Databricks runs the </a:t>
            </a:r>
            <a:r>
              <a:rPr lang="en-US" sz="1600" b="1" dirty="0"/>
              <a:t>infrastructure and isolates each scope's memories</a:t>
            </a:r>
            <a:r>
              <a:rPr lang="en-US" sz="1600" dirty="0"/>
              <a:t>, so you </a:t>
            </a:r>
            <a:r>
              <a:rPr lang="en-US" sz="1600" b="1" dirty="0"/>
              <a:t>don't have to manage storage or partitioning yourself.</a:t>
            </a:r>
            <a:endParaRPr lang="en-IN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7C594-A0BE-8DC7-010B-F6BBB7D3ED23}"/>
              </a:ext>
            </a:extLst>
          </p:cNvPr>
          <p:cNvSpPr txBox="1"/>
          <p:nvPr/>
        </p:nvSpPr>
        <p:spPr>
          <a:xfrm>
            <a:off x="313182" y="2609945"/>
            <a:ext cx="494461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Managed memory has two levels:</a:t>
            </a:r>
          </a:p>
          <a:p>
            <a:endParaRPr lang="en-US" sz="1600" dirty="0"/>
          </a:p>
          <a:p>
            <a:r>
              <a:rPr lang="en-US" sz="1600" dirty="0"/>
              <a:t>1) </a:t>
            </a:r>
            <a:r>
              <a:rPr lang="en-US" sz="1600" b="1" dirty="0"/>
              <a:t>A memory store </a:t>
            </a:r>
            <a:r>
              <a:rPr lang="en-US" sz="1600" dirty="0"/>
              <a:t>is a Unity Catalog securable that acts as a container for memory entries. A memory store </a:t>
            </a:r>
            <a:r>
              <a:rPr lang="en-US" sz="1600" b="1" dirty="0"/>
              <a:t>inherits the same governance, access control, and lineage</a:t>
            </a:r>
            <a:r>
              <a:rPr lang="en-US" sz="1600" dirty="0"/>
              <a:t> as any other </a:t>
            </a:r>
            <a:r>
              <a:rPr lang="en-US" sz="1600" b="1" dirty="0"/>
              <a:t>Unity Catalog asset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2) </a:t>
            </a:r>
            <a:r>
              <a:rPr lang="en-US" sz="1600" b="1" dirty="0"/>
              <a:t>A memory entry </a:t>
            </a:r>
            <a:r>
              <a:rPr lang="en-US" sz="1600" dirty="0"/>
              <a:t>is an individual piece of content stored inside a memory store. Each entry is identified by a </a:t>
            </a:r>
            <a:r>
              <a:rPr lang="en-US" sz="1600" b="1" dirty="0"/>
              <a:t>scope and a path</a:t>
            </a:r>
            <a:r>
              <a:rPr lang="en-US" sz="1600" dirty="0"/>
              <a:t>. The scope determines whose memories an entry belongs to, and the path organizes entries within a scope, similar to a file path (for example, /memories/preferences.md).</a:t>
            </a:r>
          </a:p>
        </p:txBody>
      </p:sp>
    </p:spTree>
    <p:extLst>
      <p:ext uri="{BB962C8B-B14F-4D97-AF65-F5344CB8AC3E}">
        <p14:creationId xmlns:p14="http://schemas.microsoft.com/office/powerpoint/2010/main" val="333630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E671A-D461-B059-EFDD-45F4430A3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Defining Scopes for our Memory Store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0C33E-4B7C-C221-11A9-2B8E95F34510}"/>
              </a:ext>
            </a:extLst>
          </p:cNvPr>
          <p:cNvSpPr txBox="1"/>
          <p:nvPr/>
        </p:nvSpPr>
        <p:spPr>
          <a:xfrm>
            <a:off x="1442847" y="1624507"/>
            <a:ext cx="9306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/>
              <a:t>Scope is how you make a memory private to one user or shared across a group</a:t>
            </a:r>
            <a:endParaRPr lang="en-IN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749CA5-886F-2A7C-2F35-C804494B329F}"/>
              </a:ext>
            </a:extLst>
          </p:cNvPr>
          <p:cNvSpPr txBox="1"/>
          <p:nvPr/>
        </p:nvSpPr>
        <p:spPr>
          <a:xfrm>
            <a:off x="569595" y="2381655"/>
            <a:ext cx="110528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1) </a:t>
            </a:r>
            <a:r>
              <a:rPr lang="en-US" b="1" dirty="0"/>
              <a:t>Private memory for each user</a:t>
            </a:r>
            <a:r>
              <a:rPr lang="en-US" dirty="0"/>
              <a:t>: Set the scope to the verified end-user identity. Each user gets their </a:t>
            </a:r>
            <a:r>
              <a:rPr lang="en-US" b="1" dirty="0"/>
              <a:t>own partition and only sees their own entries</a:t>
            </a:r>
            <a:r>
              <a:rPr lang="en-US" dirty="0"/>
              <a:t>. The value </a:t>
            </a:r>
            <a:r>
              <a:rPr lang="en-US" b="1" dirty="0" err="1"/>
              <a:t>user_client</a:t>
            </a:r>
            <a:r>
              <a:rPr lang="en-US" b="1" dirty="0"/>
              <a:t> </a:t>
            </a:r>
            <a:r>
              <a:rPr lang="en-US" dirty="0"/>
              <a:t>resolves the </a:t>
            </a:r>
            <a:r>
              <a:rPr lang="en-US" b="1" dirty="0"/>
              <a:t>end-user's ID </a:t>
            </a:r>
            <a:r>
              <a:rPr lang="en-US" dirty="0"/>
              <a:t>for you.</a:t>
            </a:r>
          </a:p>
          <a:p>
            <a:r>
              <a:rPr lang="en-US" dirty="0"/>
              <a:t>Example: </a:t>
            </a:r>
            <a:r>
              <a:rPr lang="en-US" b="1" dirty="0"/>
              <a:t>A support agent remembers one user's communication preferences and past tickets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2) </a:t>
            </a:r>
            <a:r>
              <a:rPr lang="en-US" b="1" dirty="0"/>
              <a:t>Shared memory for a group</a:t>
            </a:r>
            <a:r>
              <a:rPr lang="en-US" dirty="0"/>
              <a:t>: Set the scope to a fixed key you choose, such as an </a:t>
            </a:r>
            <a:r>
              <a:rPr lang="en-US" b="1" dirty="0"/>
              <a:t>organization, team, or project ID</a:t>
            </a:r>
            <a:r>
              <a:rPr lang="en-US" dirty="0"/>
              <a:t>. Every user reads and writes the same memories.</a:t>
            </a:r>
          </a:p>
          <a:p>
            <a:r>
              <a:rPr lang="en-US" dirty="0"/>
              <a:t>Example: </a:t>
            </a:r>
            <a:r>
              <a:rPr lang="en-US" b="1" dirty="0"/>
              <a:t>A team agent remembers a shared glossary of company terms and internal policies.</a:t>
            </a:r>
          </a:p>
          <a:p>
            <a:endParaRPr lang="en-US" dirty="0"/>
          </a:p>
          <a:p>
            <a:r>
              <a:rPr lang="en-US" dirty="0"/>
              <a:t>3) </a:t>
            </a:r>
            <a:r>
              <a:rPr lang="en-US" b="1" dirty="0"/>
              <a:t>Memory split by something else</a:t>
            </a:r>
            <a:r>
              <a:rPr lang="en-US" dirty="0"/>
              <a:t>: Build the scope from your own values, such as a </a:t>
            </a:r>
            <a:r>
              <a:rPr lang="en-US" b="1" dirty="0"/>
              <a:t>tenant ID or a </a:t>
            </a:r>
            <a:r>
              <a:rPr lang="en-US" b="1" dirty="0" err="1"/>
              <a:t>user_id:project</a:t>
            </a:r>
            <a:r>
              <a:rPr lang="en-US" b="1" dirty="0"/>
              <a:t> composite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  <a:r>
              <a:rPr lang="en-US" b="1" dirty="0"/>
              <a:t> A multi-tenant app keeps each customer's memory separate, or a single user's memory is isolated per project.</a:t>
            </a:r>
          </a:p>
        </p:txBody>
      </p:sp>
    </p:spTree>
    <p:extLst>
      <p:ext uri="{BB962C8B-B14F-4D97-AF65-F5344CB8AC3E}">
        <p14:creationId xmlns:p14="http://schemas.microsoft.com/office/powerpoint/2010/main" val="1683862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C31C-486D-6A30-66B3-362BED2A9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Structure of an Agent Memory Store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84B33E-C2B0-04CA-94F1-615179699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090" y="1123413"/>
            <a:ext cx="9271819" cy="521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86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1256-3C5E-668B-1D04-09618407C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Self-Managed Agent Memory (</a:t>
            </a:r>
            <a:r>
              <a:rPr lang="en-US" dirty="0" err="1"/>
              <a:t>Lakebase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4" name="Content Placeholder 3" descr="Lakebase integration with Databricks services">
            <a:extLst>
              <a:ext uri="{FF2B5EF4-FFF2-40B4-BE49-F238E27FC236}">
                <a16:creationId xmlns:a16="http://schemas.microsoft.com/office/drawing/2014/main" id="{44A9962F-9DB7-893E-D2B7-E36FCD7C7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121" y="1253331"/>
            <a:ext cx="9559757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581E4D-6B24-3CD9-BE27-C6B2277E37E7}"/>
              </a:ext>
            </a:extLst>
          </p:cNvPr>
          <p:cNvSpPr txBox="1"/>
          <p:nvPr/>
        </p:nvSpPr>
        <p:spPr>
          <a:xfrm>
            <a:off x="1694306" y="5753576"/>
            <a:ext cx="88033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 err="1"/>
              <a:t>Lakebase</a:t>
            </a:r>
            <a:r>
              <a:rPr lang="en-US" sz="1600" b="1" i="1" dirty="0"/>
              <a:t> is a fully managed Postgres database integrated into the Databricks platform. Build real-time transactional applications alongside your </a:t>
            </a:r>
            <a:r>
              <a:rPr lang="en-US" sz="1600" b="1" i="1" dirty="0" err="1"/>
              <a:t>lakehouse</a:t>
            </a:r>
            <a:r>
              <a:rPr lang="en-US" sz="1600" b="1" i="1" dirty="0"/>
              <a:t> data, with automatic scaling, instant branching, and native Unity Catalog integration.</a:t>
            </a:r>
            <a:endParaRPr lang="en-IN" sz="1600" b="1" i="1" dirty="0"/>
          </a:p>
        </p:txBody>
      </p:sp>
    </p:spTree>
    <p:extLst>
      <p:ext uri="{BB962C8B-B14F-4D97-AF65-F5344CB8AC3E}">
        <p14:creationId xmlns:p14="http://schemas.microsoft.com/office/powerpoint/2010/main" val="4137314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0308E-4C08-2C6E-EC76-C344DD6F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-292641"/>
            <a:ext cx="12438888" cy="1325563"/>
          </a:xfrm>
        </p:spPr>
        <p:txBody>
          <a:bodyPr/>
          <a:lstStyle/>
          <a:p>
            <a:r>
              <a:rPr lang="en-US" dirty="0"/>
              <a:t>Short-term and Long-term Memories with </a:t>
            </a:r>
            <a:r>
              <a:rPr lang="en-US" dirty="0" err="1"/>
              <a:t>Lakebase</a:t>
            </a:r>
            <a:endParaRPr lang="en-IN" dirty="0"/>
          </a:p>
        </p:txBody>
      </p:sp>
      <p:pic>
        <p:nvPicPr>
          <p:cNvPr id="4" name="Content Placeholder 3" descr="Agents with short-term and long-term memory">
            <a:extLst>
              <a:ext uri="{FF2B5EF4-FFF2-40B4-BE49-F238E27FC236}">
                <a16:creationId xmlns:a16="http://schemas.microsoft.com/office/drawing/2014/main" id="{DC4882DD-753E-F89B-D083-60D559A60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2705" y="777240"/>
            <a:ext cx="6081362" cy="44042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B94167-43C7-AB33-B17B-0E1D1C94378F}"/>
              </a:ext>
            </a:extLst>
          </p:cNvPr>
          <p:cNvSpPr txBox="1"/>
          <p:nvPr/>
        </p:nvSpPr>
        <p:spPr>
          <a:xfrm>
            <a:off x="384429" y="5424833"/>
            <a:ext cx="114231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Short-term memory </a:t>
            </a:r>
            <a:r>
              <a:rPr lang="en-US" sz="1600" dirty="0"/>
              <a:t>captures context in a single conversation session using </a:t>
            </a:r>
            <a:r>
              <a:rPr lang="en-US" sz="1600" b="1" dirty="0"/>
              <a:t>thread IDs and checkpointing</a:t>
            </a:r>
            <a:r>
              <a:rPr lang="en-US" sz="1600" dirty="0"/>
              <a:t>. It maintains context </a:t>
            </a:r>
            <a:r>
              <a:rPr lang="en-US" sz="1600" b="1" dirty="0"/>
              <a:t>for follow-up questions within a session.</a:t>
            </a:r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Long-term memory </a:t>
            </a:r>
            <a:r>
              <a:rPr lang="en-US" sz="1600" dirty="0"/>
              <a:t>extracts and stores key information across </a:t>
            </a:r>
            <a:r>
              <a:rPr lang="en-US" sz="1600" b="1" dirty="0"/>
              <a:t>multiple conversations</a:t>
            </a:r>
            <a:r>
              <a:rPr lang="en-US" sz="1600" dirty="0"/>
              <a:t>. It personalizes interactions based on past preferences and builds a knowledge base about users that improves responses over time.</a:t>
            </a:r>
          </a:p>
        </p:txBody>
      </p:sp>
    </p:spTree>
    <p:extLst>
      <p:ext uri="{BB962C8B-B14F-4D97-AF65-F5344CB8AC3E}">
        <p14:creationId xmlns:p14="http://schemas.microsoft.com/office/powerpoint/2010/main" val="59954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549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The Problem Statement(s)</vt:lpstr>
      <vt:lpstr>Agent Memory – Retrieval as-and-when Required</vt:lpstr>
      <vt:lpstr>Managed Agent Memory</vt:lpstr>
      <vt:lpstr>Defining Scopes for our Memory Store</vt:lpstr>
      <vt:lpstr>Structure of an Agent Memory Store</vt:lpstr>
      <vt:lpstr>Self-Managed Agent Memory (Lakebase)</vt:lpstr>
      <vt:lpstr>Short-term and Long-term Memories with Lakebase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2026-08-22T14:19:02Z</dcterms:created>
  <dcterms:modified xsi:type="dcterms:W3CDTF">2026-08-22T18:46:21Z</dcterms:modified>
</cp:coreProperties>
</file>