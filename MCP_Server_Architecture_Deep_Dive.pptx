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0C10-75A7-F461-DA29-BDDC38DAD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B406A-E27C-7F6C-B4A1-7BC99FF05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0EB05-5E46-A42B-017E-F177ECB9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88890-4696-9585-EE95-9F3EC822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48BFC-BF8D-7A74-A3E8-E9C41056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56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9E88-25AB-B4A3-7941-3B740816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970AA-609E-E9F7-FB04-0159B331C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56A54-EB62-1765-A7CF-156FCD8B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63FFA-D805-2708-1C2E-E9187BC14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3EA06-640B-C25C-B81A-52921EE3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03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293E-3947-300C-F10A-D366FB2C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D3CA4-C150-5C6B-5DB0-BF6D879A8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0FB9-21D6-78CF-AB19-65841DAD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1DFC9-A984-F4B3-E13D-44AAC12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6CFF1-3FC2-E70B-8C76-0D57B72B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80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31C1-E3D6-2D93-A3F3-E5FB2D9DE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4E242-8224-6CD2-96F5-ADB2075E2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E7DB7-9108-CF57-84EF-66286F607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B1EAF-B99A-C624-D3DB-952501EB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078FC-123B-0009-E191-AC3EA3A7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80378-A808-E1E8-D75A-CF7403DE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52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01F9-C53F-515A-9BD5-9266928B7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B32D0-FFD9-6011-BC37-1B803D82F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2522A-1AFE-0279-7F5B-A004242E4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7C985-22D0-31F5-57B5-F5B38CB2D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27917-3EBB-DF8F-028B-30D185550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EEA9D6-946A-1860-4261-71091945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0C2AA-53B1-E679-44F6-74BB6D9F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C989F-D692-9EE4-AAA3-1055FDB3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57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200D-1174-08FB-F084-6BE561C7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26FDA-2703-8388-EE83-7DA76160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F6C10-C90E-9B83-2901-C3454069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2CE51-442C-ECBD-F154-5D713DB2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08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A4B0B-FA2C-CE3C-DA3D-19F1679E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AAE7C3-6329-91CF-FAAF-4CFD51E3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852DC-5E1D-42D7-4F7D-AFA9C949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47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8FD9-A75D-BAE4-BBF8-A06563FAA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5BC1C-0FE9-9914-6A2A-488D654EA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F17EF-4AAE-556B-ADCC-C967AD44A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24C74-E2B9-A3BE-D8FD-FF90CD07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83698-D5FF-F8DD-DD44-BEF28D64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BC7E0-C417-A9A7-9A90-A10C9DFD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8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B15F-0232-8058-D0D3-E6B3D634C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DBD39-E704-2764-3645-88E336528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F3D5-C79F-AF8E-7326-26FCFFA4C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5E2A9-332D-2C76-040B-C756E572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C3EA8-A10D-79D2-A946-EAE8148F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EDB1C-7BD0-A7BF-CD72-F86CE71E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66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13DA-8640-F8B7-291C-39D64148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A7532-3D32-A9D0-2216-F978973A8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969EA-1028-7EA6-2030-07389D85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1BC73-0D38-A244-2A5D-7BDA7233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49951-C593-1F2F-6583-2B18333E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84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8CE90-B1F7-DEC9-3BA6-F4F7A06037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58DF5-6A62-9FA2-2105-71C3938F0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60132-389D-57FC-74C2-2D4A6CA9E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DDFB6-42E6-69ED-9C42-07D1CFAF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B855B-A7A2-11DE-4BCD-1CD3921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94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F30471-4314-B69E-F75A-EE774C91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B113D-C609-4C1B-E7CC-BE9E2F42A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84BCA-CE11-C4F9-20E3-6F4D83E5A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07F24-0629-4E35-8FE3-941BB094153A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91252-ADB6-D298-08D7-F7FCEA89A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EF4C4-5EAF-E6B5-29DB-05BD72372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B1946-0E37-4515-91C4-5E6050BC5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7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3DA15B-AF65-73B9-F6F0-A835FA5C0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86" y="5083366"/>
            <a:ext cx="9144000" cy="1655762"/>
          </a:xfrm>
        </p:spPr>
        <p:txBody>
          <a:bodyPr/>
          <a:lstStyle/>
          <a:p>
            <a:r>
              <a:rPr lang="en-US" b="1" i="1"/>
              <a:t>MCP Server Architecture </a:t>
            </a:r>
            <a:r>
              <a:rPr lang="en-US" b="1" i="1" dirty="0"/>
              <a:t>Deep-Dive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8DC8-2738-B3EE-1D26-A15BD038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19" y="393192"/>
            <a:ext cx="8720134" cy="4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8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3A20-80CB-399F-F196-57868148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650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MCP – General Architecture</a:t>
            </a:r>
            <a:endParaRPr lang="en-IN" dirty="0"/>
          </a:p>
        </p:txBody>
      </p:sp>
      <p:pic>
        <p:nvPicPr>
          <p:cNvPr id="2050" name="Picture 2" descr="How to Build an MCP Server (Step-by-Step Guide) 2025">
            <a:extLst>
              <a:ext uri="{FF2B5EF4-FFF2-40B4-BE49-F238E27FC236}">
                <a16:creationId xmlns:a16="http://schemas.microsoft.com/office/drawing/2014/main" id="{E86E2814-2908-4D6D-598E-D10ADC9067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50" y="1297947"/>
            <a:ext cx="6886816" cy="4351338"/>
          </a:xfrm>
          <a:prstGeom prst="rect">
            <a:avLst/>
          </a:prstGeom>
          <a:noFill/>
          <a:ln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7BCE8A-E4B7-2F8E-88E1-D250305104E7}"/>
              </a:ext>
            </a:extLst>
          </p:cNvPr>
          <p:cNvSpPr txBox="1"/>
          <p:nvPr/>
        </p:nvSpPr>
        <p:spPr>
          <a:xfrm>
            <a:off x="7754152" y="1251001"/>
            <a:ext cx="4071257" cy="50783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1) MCP Hosts: Programs like Claude Desktop, IDEs, or AI tools that want to access data through MCP</a:t>
            </a:r>
          </a:p>
          <a:p>
            <a:endParaRPr lang="en-US" dirty="0"/>
          </a:p>
          <a:p>
            <a:r>
              <a:rPr lang="en-US" dirty="0"/>
              <a:t>2)MCP Clients: Protocol clients that maintain 1:1 connections with servers</a:t>
            </a:r>
          </a:p>
          <a:p>
            <a:r>
              <a:rPr lang="en-US" dirty="0"/>
              <a:t>MCP Servers: Lightweight programs that each expose specific capabilities through the standardized Model Context Protocol</a:t>
            </a:r>
          </a:p>
          <a:p>
            <a:endParaRPr lang="en-US" dirty="0"/>
          </a:p>
          <a:p>
            <a:r>
              <a:rPr lang="en-US" dirty="0"/>
              <a:t>3) Local Data Sources: Your computer’s files, databases, and services that MCP servers can securely access</a:t>
            </a:r>
          </a:p>
          <a:p>
            <a:endParaRPr lang="en-US" dirty="0"/>
          </a:p>
          <a:p>
            <a:r>
              <a:rPr lang="en-US" dirty="0"/>
              <a:t>4) Remote Services: External systems available over the internet (e.g., through APIs) that MCP servers can connect to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94A35-BD67-0D2B-4E42-45B6FB1128F4}"/>
              </a:ext>
            </a:extLst>
          </p:cNvPr>
          <p:cNvSpPr txBox="1"/>
          <p:nvPr/>
        </p:nvSpPr>
        <p:spPr>
          <a:xfrm>
            <a:off x="838200" y="5914349"/>
            <a:ext cx="609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At its core, MCP follows a client-server architecture where a host application can connect to multiple servers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40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686F392-F803-61AB-5489-A7B75D81C8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456" y="35607"/>
            <a:ext cx="8687088" cy="339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3F768B-6B22-EAC4-F847-1D004A906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1" y="3873357"/>
            <a:ext cx="6397691" cy="2700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E1C73C-BF72-7E85-07FF-D060333DE277}"/>
              </a:ext>
            </a:extLst>
          </p:cNvPr>
          <p:cNvSpPr txBox="1"/>
          <p:nvPr/>
        </p:nvSpPr>
        <p:spPr>
          <a:xfrm>
            <a:off x="6809198" y="4315682"/>
            <a:ext cx="4934164" cy="20621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Visual Studio Code acts as an MCP host. 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When Visual Studio Code establishes a connection to an MCP server, such as the Sentry MCP server, the Visual Studio Code runtime instantiates an MCP client object that maintains the connection to the Sentry MCP server.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7793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AFF5-76DF-E63D-5726-1EAF260C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02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MCP Data and Transport Layer</a:t>
            </a:r>
            <a:endParaRPr lang="en-IN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A6A0B9-6E46-51F1-757D-AD03F44A1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1414" y="1021390"/>
            <a:ext cx="9849171" cy="506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286005-7444-9B16-E442-54B18FB7878C}"/>
              </a:ext>
            </a:extLst>
          </p:cNvPr>
          <p:cNvCxnSpPr>
            <a:cxnSpLocks/>
          </p:cNvCxnSpPr>
          <p:nvPr/>
        </p:nvCxnSpPr>
        <p:spPr>
          <a:xfrm>
            <a:off x="2969231" y="5815173"/>
            <a:ext cx="24349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8C71E9-513E-EE2E-CC1B-E2F74890A261}"/>
              </a:ext>
            </a:extLst>
          </p:cNvPr>
          <p:cNvCxnSpPr>
            <a:cxnSpLocks/>
          </p:cNvCxnSpPr>
          <p:nvPr/>
        </p:nvCxnSpPr>
        <p:spPr>
          <a:xfrm flipV="1">
            <a:off x="2969231" y="5219272"/>
            <a:ext cx="0" cy="595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B6C709-372C-F29A-F6BD-F6B3070B9EE0}"/>
              </a:ext>
            </a:extLst>
          </p:cNvPr>
          <p:cNvCxnSpPr>
            <a:cxnSpLocks/>
          </p:cNvCxnSpPr>
          <p:nvPr/>
        </p:nvCxnSpPr>
        <p:spPr>
          <a:xfrm flipV="1">
            <a:off x="5404207" y="5322013"/>
            <a:ext cx="0" cy="493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034189-69A8-89B5-602B-F75772340830}"/>
              </a:ext>
            </a:extLst>
          </p:cNvPr>
          <p:cNvSpPr txBox="1"/>
          <p:nvPr/>
        </p:nvSpPr>
        <p:spPr>
          <a:xfrm>
            <a:off x="3315905" y="5364279"/>
            <a:ext cx="177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Data Layer</a:t>
            </a:r>
            <a:endParaRPr lang="en-IN" b="1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10479-7FC7-A487-9F68-39ED967DC177}"/>
              </a:ext>
            </a:extLst>
          </p:cNvPr>
          <p:cNvSpPr txBox="1"/>
          <p:nvPr/>
        </p:nvSpPr>
        <p:spPr>
          <a:xfrm>
            <a:off x="3284547" y="5773671"/>
            <a:ext cx="177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3"/>
                </a:solidFill>
              </a:rPr>
              <a:t>JSON-RPC 2.0</a:t>
            </a:r>
            <a:endParaRPr lang="en-IN" b="1" i="1" dirty="0">
              <a:solidFill>
                <a:schemeClr val="accent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BDCE3B-8A04-7967-4B33-2966743D6055}"/>
              </a:ext>
            </a:extLst>
          </p:cNvPr>
          <p:cNvSpPr txBox="1"/>
          <p:nvPr/>
        </p:nvSpPr>
        <p:spPr>
          <a:xfrm>
            <a:off x="2332234" y="6224565"/>
            <a:ext cx="8383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C00000"/>
                </a:solidFill>
              </a:rPr>
              <a:t>The Data Layer Defines how the Queries should be structured for data retrieval and the Transport Layer defines how the Queries are transported over network calls </a:t>
            </a:r>
            <a:endParaRPr lang="en-IN" sz="1600" b="1" i="1" dirty="0">
              <a:solidFill>
                <a:srgbClr val="C0000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7C6EED-0452-9D07-54A3-A7F053D41E2D}"/>
              </a:ext>
            </a:extLst>
          </p:cNvPr>
          <p:cNvSpPr/>
          <p:nvPr/>
        </p:nvSpPr>
        <p:spPr>
          <a:xfrm>
            <a:off x="5743254" y="2671258"/>
            <a:ext cx="780836" cy="277403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AC7C3F-EBCC-0DD5-2471-C51659C4DF0C}"/>
              </a:ext>
            </a:extLst>
          </p:cNvPr>
          <p:cNvSpPr txBox="1"/>
          <p:nvPr/>
        </p:nvSpPr>
        <p:spPr>
          <a:xfrm>
            <a:off x="7212458" y="1910993"/>
            <a:ext cx="366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Replaced by Streamable HTTP</a:t>
            </a:r>
            <a:endParaRPr lang="en-IN" b="1" i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E0970F2-203C-0994-9237-C626FC05CDED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6524090" y="2280325"/>
            <a:ext cx="2522306" cy="493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287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1198-82C3-7B05-AE18-41629785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772" y="-243003"/>
            <a:ext cx="10515600" cy="1325563"/>
          </a:xfrm>
        </p:spPr>
        <p:txBody>
          <a:bodyPr/>
          <a:lstStyle/>
          <a:p>
            <a:r>
              <a:rPr lang="en-US"/>
              <a:t>And then it looks something like……</a:t>
            </a:r>
            <a:endParaRPr lang="en-IN" dirty="0"/>
          </a:p>
        </p:txBody>
      </p:sp>
      <p:pic>
        <p:nvPicPr>
          <p:cNvPr id="3074" name="Picture 2" descr="What is Model Context Protocol (MCP)? How it simplifies AI integrations  compared to APIs | AI Agents That Work">
            <a:extLst>
              <a:ext uri="{FF2B5EF4-FFF2-40B4-BE49-F238E27FC236}">
                <a16:creationId xmlns:a16="http://schemas.microsoft.com/office/drawing/2014/main" id="{5ECB05D8-3F4C-BF21-E6B5-8496B091CD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290" y="925286"/>
            <a:ext cx="9247819" cy="520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FF2EFA2-63FF-CC6C-2CB5-EF3379984188}"/>
              </a:ext>
            </a:extLst>
          </p:cNvPr>
          <p:cNvSpPr/>
          <p:nvPr/>
        </p:nvSpPr>
        <p:spPr>
          <a:xfrm>
            <a:off x="1741714" y="2928257"/>
            <a:ext cx="4528457" cy="3331029"/>
          </a:xfrm>
          <a:prstGeom prst="ellipse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519369-2381-6BAC-EBFB-294FA5D41317}"/>
              </a:ext>
            </a:extLst>
          </p:cNvPr>
          <p:cNvSpPr/>
          <p:nvPr/>
        </p:nvSpPr>
        <p:spPr>
          <a:xfrm>
            <a:off x="6270171" y="925286"/>
            <a:ext cx="1959429" cy="1773634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70AED-123A-CCA8-08C2-19B4EC5BD37C}"/>
              </a:ext>
            </a:extLst>
          </p:cNvPr>
          <p:cNvSpPr txBox="1"/>
          <p:nvPr/>
        </p:nvSpPr>
        <p:spPr>
          <a:xfrm>
            <a:off x="1839686" y="6259286"/>
            <a:ext cx="720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MCP Server – this is something you would develop if you are in the Gmail team, Slack Team or even part of a team that sells its API services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31EA7-18FF-8F79-3192-2EEB97788315}"/>
              </a:ext>
            </a:extLst>
          </p:cNvPr>
          <p:cNvSpPr txBox="1"/>
          <p:nvPr/>
        </p:nvSpPr>
        <p:spPr>
          <a:xfrm>
            <a:off x="7522029" y="3004457"/>
            <a:ext cx="466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You would focus on consuming the MCP server information if you are acting as the customer for those enterprises.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23BA7-0DF3-304D-EF8F-497A39C61F50}"/>
              </a:ext>
            </a:extLst>
          </p:cNvPr>
          <p:cNvSpPr txBox="1"/>
          <p:nvPr/>
        </p:nvSpPr>
        <p:spPr>
          <a:xfrm>
            <a:off x="283029" y="2601686"/>
            <a:ext cx="195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This is TOUGH!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8EBC38-C5FC-C758-AC03-D903F0A2F8FF}"/>
              </a:ext>
            </a:extLst>
          </p:cNvPr>
          <p:cNvCxnSpPr>
            <a:stCxn id="8" idx="2"/>
          </p:cNvCxnSpPr>
          <p:nvPr/>
        </p:nvCxnSpPr>
        <p:spPr>
          <a:xfrm>
            <a:off x="1262744" y="2971018"/>
            <a:ext cx="1132113" cy="457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F0696B5-A149-0DF2-4FF9-F67B1E2FDEB7}"/>
              </a:ext>
            </a:extLst>
          </p:cNvPr>
          <p:cNvSpPr txBox="1"/>
          <p:nvPr/>
        </p:nvSpPr>
        <p:spPr>
          <a:xfrm>
            <a:off x="4427763" y="851727"/>
            <a:ext cx="1744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This is EASY!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68C0AE-ED68-AFF8-F0EB-9C073362E95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747657" y="1036393"/>
            <a:ext cx="809466" cy="148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93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MCP – General Architecture</vt:lpstr>
      <vt:lpstr>PowerPoint Presentation</vt:lpstr>
      <vt:lpstr>MCP Data and Transport Layer</vt:lpstr>
      <vt:lpstr>And then it looks something like……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2026-08-22T13:11:06Z</dcterms:created>
  <dcterms:modified xsi:type="dcterms:W3CDTF">2026-08-22T13:12:28Z</dcterms:modified>
</cp:coreProperties>
</file>